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62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0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34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2/21/24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2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2/21/24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2/21/24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4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5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2/21/24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02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2/21/24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68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2/21/24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51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2/21/24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481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A065C5-337B-21EC-7A78-9EA9246D2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968" y="1289538"/>
            <a:ext cx="6542916" cy="2782508"/>
          </a:xfrm>
        </p:spPr>
        <p:txBody>
          <a:bodyPr anchor="ctr">
            <a:normAutofit/>
          </a:bodyPr>
          <a:lstStyle/>
          <a:p>
            <a:pPr algn="l"/>
            <a:r>
              <a:rPr lang="en-US" dirty="0" err="1">
                <a:solidFill>
                  <a:schemeClr val="tx2">
                    <a:alpha val="80000"/>
                  </a:schemeClr>
                </a:solidFill>
              </a:rPr>
              <a:t>Soal</a:t>
            </a:r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 LKS Artificial Intelligence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39823-2BBC-2458-227D-2D934F980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6901" y="1503315"/>
            <a:ext cx="4612131" cy="2232201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Kota Malang – 22 </a:t>
            </a:r>
            <a:r>
              <a:rPr lang="en-US" dirty="0" err="1">
                <a:solidFill>
                  <a:schemeClr val="tx2">
                    <a:alpha val="80000"/>
                  </a:schemeClr>
                </a:solidFill>
              </a:rPr>
              <a:t>Februari</a:t>
            </a:r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 2024</a:t>
            </a:r>
          </a:p>
          <a:p>
            <a:pPr algn="l"/>
            <a:r>
              <a:rPr lang="en-US" dirty="0">
                <a:solidFill>
                  <a:schemeClr val="tx2">
                    <a:alpha val="80000"/>
                  </a:schemeClr>
                </a:solidFill>
              </a:rPr>
              <a:t>@SMK Telkom Malang</a:t>
            </a:r>
          </a:p>
        </p:txBody>
      </p:sp>
      <p:pic>
        <p:nvPicPr>
          <p:cNvPr id="4" name="Picture 3" descr="Full frame shot of wall with worn-out sky blue paint">
            <a:extLst>
              <a:ext uri="{FF2B5EF4-FFF2-40B4-BE49-F238E27FC236}">
                <a16:creationId xmlns:a16="http://schemas.microsoft.com/office/drawing/2014/main" id="{C2A482D6-E40E-686D-9636-2E52CDD876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707" r="2" b="33088"/>
          <a:stretch/>
        </p:blipFill>
        <p:spPr>
          <a:xfrm>
            <a:off x="16613" y="3258636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  <p:pic>
        <p:nvPicPr>
          <p:cNvPr id="1026" name="Picture 2" descr="Lambang Jawa Timur - Wikipedia bahasa Indonesia, ensiklopedia bebas">
            <a:extLst>
              <a:ext uri="{FF2B5EF4-FFF2-40B4-BE49-F238E27FC236}">
                <a16:creationId xmlns:a16="http://schemas.microsoft.com/office/drawing/2014/main" id="{077DB123-753F-D6A2-4B06-DB621189C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8" y="147233"/>
            <a:ext cx="1069024" cy="150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mba Keterampilan Siswa (LKS) tingkat Provinsi Kalimantan tengah tahun 2020">
            <a:extLst>
              <a:ext uri="{FF2B5EF4-FFF2-40B4-BE49-F238E27FC236}">
                <a16:creationId xmlns:a16="http://schemas.microsoft.com/office/drawing/2014/main" id="{25EAFEE5-2CA7-12B1-C511-AAC9C3ED4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722" y="127580"/>
            <a:ext cx="1847832" cy="155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170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6AD51D-D59E-4689-A5DF-6A9857053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5578CCE-1E06-4634-B7D3-B75915B79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58694FA-DDF2-4463-8E27-E40C7B70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66F117C-BB6F-4A4D-B9E6-7352647BF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DD06D7-A858-4BE9-B269-78645172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B9716CE-4E07-44BE-9271-E478BBE78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4E8B64A-EF2F-47BF-AF60-22693FBD5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9EBB16F-B1A9-45AE-9C7A-503A402F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44818A-E73A-4763-8B27-B5244AD16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43A7F77-4F07-4CD4-B62F-B3AF76ADF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C64748D-7F97-429F-8A7B-8D7EEB1E2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BB97A24-973F-442A-99BA-8AC5FB1D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732AE5-4438-4E42-834A-653713C0B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3E2B6CE-9310-4CD9-B1C7-2DBFB5613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959B4D1-86FF-4165-945E-3265E3F0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8B56538-E579-4678-B2C4-190218F65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6C898F5F-7AAE-453A-82FE-F4247F2F4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7D95DBF-0AAC-4741-91B1-649F6FE7D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3F59BE-64EE-4780-9361-E231148A4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BE6D2F5-CA3E-4BC3-B8FE-49E3FAC00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DEF74E0F-547D-4E30-B042-E040A1639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3948BBB3-C56E-4DCA-B93A-71D475476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6449CBA-E814-4F9C-9FC8-0B2E05BFB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5F9BC37-BDF5-45BE-B728-B10A9565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572B9-7D58-48F6-A290-9EF097595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F2C4CAC2-0AC5-408F-92EA-7FB0F63A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0504E629-A4AD-411E-B4C0-B205748A1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9BA5C51-7F10-4E99-BF13-383E0B5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47F8EAE2-B22F-48D7-875C-C68B07B5C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7E1B9FF-384B-455E-88A2-93A4CC791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9A8FF40-B2F4-4522-9598-E0F02791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7A6DA27B-24A2-4FAF-9CB9-A814BF8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D48258A-6826-4A24-97F8-B65FE4D99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43F6B7F-6CF7-4212-8A4C-0AF81FCC7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ECD379A7-2614-4A67-8607-5A9FF0118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972002F-2AF6-4170-83C8-3AC461AEA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6F1082F6-3D56-4AD7-A271-A7CDEE46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0CCEA333-BCA4-414F-8235-43D426595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87971C1-BBD6-4201-A93D-DF09B2B4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528F0E17-F524-4028-ABA2-99D293B7F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9CA3BF8-B976-46BC-9FD8-0BBFED3A5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130B60B9-F7F0-4B6E-848E-94EB0E9D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33B57A-CBB1-4201-BB5A-75E5AB6F8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16721E5-E31C-4F26-9D10-29EDA02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ADADFEDD-1B94-4EA7-B826-5E342BD4B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0AE683-15D4-4904-BB82-96ADABE67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EF4A50C-5A07-4204-8915-10F2B32D6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3E84E616-3881-4F89-8F3A-EC4C9F3EB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ACE3E7B-5CF6-4605-8EA9-F03A222AA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977AE8FF-E1E0-49F8-972B-3BCAD57D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68F76A8B-AC15-4215-884C-57C94FE7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829813CA-E925-41BB-A818-AEEBD58D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CED9DD07-B629-4508-99B3-666544E5D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859C10A-6DEF-4B98-9208-9681745D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8F930A6-B089-462C-8699-E7DEC651D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49FCA652-5425-4350-80D2-DF3A72932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614C2703-817B-4E61-B0C1-B8A18B7B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E9756F19-602C-437D-89D3-AA582DE6E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AD912F9B-FBEE-468E-9E40-4A911738B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3008689-B0A9-46C9-888F-0427372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8AA2E07E-83FC-4A07-A945-64C914BB2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BC3CD54-7A49-4290-9D69-AC69160EE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1" name="Flowchart: Document 8">
            <a:extLst>
              <a:ext uri="{FF2B5EF4-FFF2-40B4-BE49-F238E27FC236}">
                <a16:creationId xmlns:a16="http://schemas.microsoft.com/office/drawing/2014/main" id="{4BE5C09D-B3C1-42F3-B945-39AEDFD19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56098" y="97180"/>
            <a:ext cx="6867330" cy="665430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533399"/>
            <a:ext cx="12214827" cy="6858000"/>
            <a:chOff x="-6214" y="-1"/>
            <a:chExt cx="12214827" cy="6858000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id="{2ED91E97-77B4-73D3-16C6-5CF46F6EB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6688"/>
          <a:stretch/>
        </p:blipFill>
        <p:spPr>
          <a:xfrm>
            <a:off x="175917" y="168275"/>
            <a:ext cx="11863679" cy="65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0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32FF-1ADA-0974-9D5D-86D4B1F3B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4BFDFE1-E732-A2D8-6176-4E4F680A11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653" y="32609"/>
            <a:ext cx="3147845" cy="6864419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AC52908-0C37-464B-7DED-679C9097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111" y="32609"/>
            <a:ext cx="2072559" cy="6666731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13DDE6BD-027E-8E50-EB85-7EC3E72BA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967" y="32609"/>
            <a:ext cx="2362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4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FAA5-9A73-75A1-740F-183564ADA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CD7B-53B1-37CA-EB29-470767FB3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2" name="Picture 4" descr="IRIS Flowers Classification Using Machine Learning, 45% OFF">
            <a:extLst>
              <a:ext uri="{FF2B5EF4-FFF2-40B4-BE49-F238E27FC236}">
                <a16:creationId xmlns:a16="http://schemas.microsoft.com/office/drawing/2014/main" id="{7C1509B6-9B65-E83C-521D-28CE6612F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3263"/>
            <a:ext cx="12192000" cy="5449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34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26AD51D-D59E-4689-A5DF-6A9857053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5578CCE-1E06-4634-B7D3-B75915B79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58694FA-DDF2-4463-8E27-E40C7B70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66F117C-BB6F-4A4D-B9E6-7352647BF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FDD06D7-A858-4BE9-B269-78645172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B9716CE-4E07-44BE-9271-E478BBE78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F4E8B64A-EF2F-47BF-AF60-22693FBD5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9EBB16F-B1A9-45AE-9C7A-503A402F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F44818A-E73A-4763-8B27-B5244AD16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43A7F77-4F07-4CD4-B62F-B3AF76ADF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C64748D-7F97-429F-8A7B-8D7EEB1E2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0BB97A24-973F-442A-99BA-8AC5FB1D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9732AE5-4438-4E42-834A-653713C0B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3E2B6CE-9310-4CD9-B1C7-2DBFB5613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959B4D1-86FF-4165-945E-3265E3F0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B56538-E579-4678-B2C4-190218F65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C898F5F-7AAE-453A-82FE-F4247F2F4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7D95DBF-0AAC-4741-91B1-649F6FE7D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B3F59BE-64EE-4780-9361-E231148A4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BE6D2F5-CA3E-4BC3-B8FE-49E3FAC00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EF74E0F-547D-4E30-B042-E040A1639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948BBB3-C56E-4DCA-B93A-71D475476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36449CBA-E814-4F9C-9FC8-0B2E05BFB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F5F9BC37-BDF5-45BE-B728-B10A9565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14572B9-7D58-48F6-A290-9EF097595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2C4CAC2-0AC5-408F-92EA-7FB0F63A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504E629-A4AD-411E-B4C0-B205748A1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9BA5C51-7F10-4E99-BF13-383E0B5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7F8EAE2-B22F-48D7-875C-C68B07B5C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7E1B9FF-384B-455E-88A2-93A4CC791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9A8FF40-B2F4-4522-9598-E0F02791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A6DA27B-24A2-4FAF-9CB9-A814BF8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D48258A-6826-4A24-97F8-B65FE4D99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A43F6B7F-6CF7-4212-8A4C-0AF81FCC7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CD379A7-2614-4A67-8607-5A9FF0118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972002F-2AF6-4170-83C8-3AC461AEA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F1082F6-3D56-4AD7-A271-A7CDEE46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CCEA333-BCA4-414F-8235-43D426595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087971C1-BBD6-4201-A93D-DF09B2B4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28F0E17-F524-4028-ABA2-99D293B7F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59CA3BF8-B976-46BC-9FD8-0BBFED3A5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130B60B9-F7F0-4B6E-848E-94EB0E9D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F33B57A-CBB1-4201-BB5A-75E5AB6F8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16721E5-E31C-4F26-9D10-29EDA02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DADFEDD-1B94-4EA7-B826-5E342BD4B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F0AE683-15D4-4904-BB82-96ADABE67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EF4A50C-5A07-4204-8915-10F2B32D6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E84E616-3881-4F89-8F3A-EC4C9F3EB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FACE3E7B-5CF6-4605-8EA9-F03A222AA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77AE8FF-E1E0-49F8-972B-3BCAD57D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8F76A8B-AC15-4215-884C-57C94FE7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29813CA-E925-41BB-A818-AEEBD58D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ED9DD07-B629-4508-99B3-666544E5D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3859C10A-6DEF-4B98-9208-9681745D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8F930A6-B089-462C-8699-E7DEC651D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49FCA652-5425-4350-80D2-DF3A72932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614C2703-817B-4E61-B0C1-B8A18B7B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E9756F19-602C-437D-89D3-AA582DE6E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AD912F9B-FBEE-468E-9E40-4A911738B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3008689-B0A9-46C9-888F-0427372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AA2E07E-83FC-4A07-A945-64C914BB2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FBC3CD54-7A49-4290-9D69-AC69160EE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Flowchart: Document 8">
            <a:extLst>
              <a:ext uri="{FF2B5EF4-FFF2-40B4-BE49-F238E27FC236}">
                <a16:creationId xmlns:a16="http://schemas.microsoft.com/office/drawing/2014/main" id="{4BE5C09D-B3C1-42F3-B945-39AEDFD19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56098" y="97180"/>
            <a:ext cx="6867330" cy="665430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533399"/>
            <a:ext cx="12214827" cy="6858000"/>
            <a:chOff x="-6214" y="-1"/>
            <a:chExt cx="12214827" cy="6858000"/>
          </a:xfrm>
        </p:grpSpPr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A blue flower with yellow arrows&#10;&#10;Description automatically generated">
            <a:extLst>
              <a:ext uri="{FF2B5EF4-FFF2-40B4-BE49-F238E27FC236}">
                <a16:creationId xmlns:a16="http://schemas.microsoft.com/office/drawing/2014/main" id="{9190FCD3-25BA-CA54-6967-44E2BA0982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390" r="-1" b="20112"/>
          <a:stretch/>
        </p:blipFill>
        <p:spPr>
          <a:xfrm>
            <a:off x="175917" y="168275"/>
            <a:ext cx="11863679" cy="65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4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7554145-CD22-C39E-9EE1-0A8278B4C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CD25B9-28C5-8FE3-D6F2-AD1872CD0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039E941-EF92-33F7-B926-58606AB47B9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14288"/>
            <a:ext cx="12226925" cy="6072187"/>
          </a:xfrm>
        </p:spPr>
      </p:pic>
    </p:spTree>
    <p:extLst>
      <p:ext uri="{BB962C8B-B14F-4D97-AF65-F5344CB8AC3E}">
        <p14:creationId xmlns:p14="http://schemas.microsoft.com/office/powerpoint/2010/main" val="2821761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EE113-9551-BE82-DF83-CD618B3E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Implementasi</a:t>
            </a:r>
            <a:r>
              <a:rPr lang="en-US" dirty="0"/>
              <a:t> K-Means Clustering pada Dataset Iris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527D0-62B6-6F74-6ED9-0DC4BB2BE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…</a:t>
            </a:r>
          </a:p>
        </p:txBody>
      </p:sp>
    </p:spTree>
    <p:extLst>
      <p:ext uri="{BB962C8B-B14F-4D97-AF65-F5344CB8AC3E}">
        <p14:creationId xmlns:p14="http://schemas.microsoft.com/office/powerpoint/2010/main" val="332658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26AD51D-D59E-4689-A5DF-6A9857053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578CCE-1E06-4634-B7D3-B75915B79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58694FA-DDF2-4463-8E27-E40C7B705D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66F117C-BB6F-4A4D-B9E6-7352647BF5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FDD06D7-A858-4BE9-B269-786451727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B9716CE-4E07-44BE-9271-E478BBE78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4E8B64A-EF2F-47BF-AF60-22693FBD5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9EBB16F-B1A9-45AE-9C7A-503A402F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BF44818A-E73A-4763-8B27-B5244AD16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43A7F77-4F07-4CD4-B62F-B3AF76ADF4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C64748D-7F97-429F-8A7B-8D7EEB1E2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BB97A24-973F-442A-99BA-8AC5FB1D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9732AE5-4438-4E42-834A-653713C0B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3E2B6CE-9310-4CD9-B1C7-2DBFB5613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959B4D1-86FF-4165-945E-3265E3F00D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B56538-E579-4678-B2C4-190218F65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C898F5F-7AAE-453A-82FE-F4247F2F4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7D95DBF-0AAC-4741-91B1-649F6FE7D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1B3F59BE-64EE-4780-9361-E231148A4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BE6D2F5-CA3E-4BC3-B8FE-49E3FAC00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EF74E0F-547D-4E30-B042-E040A1639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3948BBB3-C56E-4DCA-B93A-71D475476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6449CBA-E814-4F9C-9FC8-0B2E05BFB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5F9BC37-BDF5-45BE-B728-B10A9565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14572B9-7D58-48F6-A290-9EF097595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F2C4CAC2-0AC5-408F-92EA-7FB0F63A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504E629-A4AD-411E-B4C0-B205748A1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09BA5C51-7F10-4E99-BF13-383E0B5DE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7F8EAE2-B22F-48D7-875C-C68B07B5C3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D7E1B9FF-384B-455E-88A2-93A4CC7910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9A8FF40-B2F4-4522-9598-E0F027915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7A6DA27B-24A2-4FAF-9CB9-A814BF835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D48258A-6826-4A24-97F8-B65FE4D99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A43F6B7F-6CF7-4212-8A4C-0AF81FCC7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CD379A7-2614-4A67-8607-5A9FF0118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E972002F-2AF6-4170-83C8-3AC461AEA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F1082F6-3D56-4AD7-A271-A7CDEE46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CCEA333-BCA4-414F-8235-43D426595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087971C1-BBD6-4201-A93D-DF09B2B4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28F0E17-F524-4028-ABA2-99D293B7F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9CA3BF8-B976-46BC-9FD8-0BBFED3A5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30B60B9-F7F0-4B6E-848E-94EB0E9D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F33B57A-CBB1-4201-BB5A-75E5AB6F8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16721E5-E31C-4F26-9D10-29EDA029E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DADFEDD-1B94-4EA7-B826-5E342BD4B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F0AE683-15D4-4904-BB82-96ADABE671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5EF4A50C-5A07-4204-8915-10F2B32D6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E84E616-3881-4F89-8F3A-EC4C9F3EB4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FACE3E7B-5CF6-4605-8EA9-F03A222AA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77AE8FF-E1E0-49F8-972B-3BCAD57D0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8F76A8B-AC15-4215-884C-57C94FE75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29813CA-E925-41BB-A818-AEEBD58D7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ED9DD07-B629-4508-99B3-666544E5D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859C10A-6DEF-4B98-9208-9681745D09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08F930A6-B089-462C-8699-E7DEC651D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9FCA652-5425-4350-80D2-DF3A72932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614C2703-817B-4E61-B0C1-B8A18B7B7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E9756F19-602C-437D-89D3-AA582DE6E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D912F9B-FBEE-468E-9E40-4A911738B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3008689-B0A9-46C9-888F-042737287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AA2E07E-83FC-4A07-A945-64C914BB2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BC3CD54-7A49-4290-9D69-AC69160EE7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15" name="Rectangle 114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208613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9" name="Flowchart: Document 8">
            <a:extLst>
              <a:ext uri="{FF2B5EF4-FFF2-40B4-BE49-F238E27FC236}">
                <a16:creationId xmlns:a16="http://schemas.microsoft.com/office/drawing/2014/main" id="{4BE5C09D-B3C1-42F3-B945-39AEDFD19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56098" y="97180"/>
            <a:ext cx="6867330" cy="6654309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  <a:gd name="connsiteX0" fmla="*/ 17 w 21656"/>
              <a:gd name="connsiteY0" fmla="*/ 147 h 47742"/>
              <a:gd name="connsiteX1" fmla="*/ 21637 w 21656"/>
              <a:gd name="connsiteY1" fmla="*/ 0 h 47742"/>
              <a:gd name="connsiteX2" fmla="*/ 21656 w 21656"/>
              <a:gd name="connsiteY2" fmla="*/ 43796 h 47742"/>
              <a:gd name="connsiteX3" fmla="*/ 0 w 21656"/>
              <a:gd name="connsiteY3" fmla="*/ 46582 h 47742"/>
              <a:gd name="connsiteX4" fmla="*/ 17 w 21656"/>
              <a:gd name="connsiteY4" fmla="*/ 147 h 47742"/>
              <a:gd name="connsiteX0" fmla="*/ 17 w 21663"/>
              <a:gd name="connsiteY0" fmla="*/ 73 h 47668"/>
              <a:gd name="connsiteX1" fmla="*/ 21663 w 21663"/>
              <a:gd name="connsiteY1" fmla="*/ 0 h 47668"/>
              <a:gd name="connsiteX2" fmla="*/ 21656 w 21663"/>
              <a:gd name="connsiteY2" fmla="*/ 43722 h 47668"/>
              <a:gd name="connsiteX3" fmla="*/ 0 w 21663"/>
              <a:gd name="connsiteY3" fmla="*/ 46508 h 47668"/>
              <a:gd name="connsiteX4" fmla="*/ 17 w 21663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64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5 w 21671"/>
              <a:gd name="connsiteY0" fmla="*/ 73 h 47668"/>
              <a:gd name="connsiteX1" fmla="*/ 21671 w 21671"/>
              <a:gd name="connsiteY1" fmla="*/ 0 h 47668"/>
              <a:gd name="connsiteX2" fmla="*/ 21670 w 21671"/>
              <a:gd name="connsiteY2" fmla="*/ 43722 h 47668"/>
              <a:gd name="connsiteX3" fmla="*/ 8 w 21671"/>
              <a:gd name="connsiteY3" fmla="*/ 46508 h 47668"/>
              <a:gd name="connsiteX4" fmla="*/ 5 w 21671"/>
              <a:gd name="connsiteY4" fmla="*/ 73 h 47668"/>
              <a:gd name="connsiteX0" fmla="*/ 4 w 21676"/>
              <a:gd name="connsiteY0" fmla="*/ 0 h 47722"/>
              <a:gd name="connsiteX1" fmla="*/ 21676 w 21676"/>
              <a:gd name="connsiteY1" fmla="*/ 54 h 47722"/>
              <a:gd name="connsiteX2" fmla="*/ 21675 w 21676"/>
              <a:gd name="connsiteY2" fmla="*/ 43776 h 47722"/>
              <a:gd name="connsiteX3" fmla="*/ 13 w 21676"/>
              <a:gd name="connsiteY3" fmla="*/ 46562 h 47722"/>
              <a:gd name="connsiteX4" fmla="*/ 4 w 21676"/>
              <a:gd name="connsiteY4" fmla="*/ 0 h 47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76" h="47722">
                <a:moveTo>
                  <a:pt x="4" y="0"/>
                </a:moveTo>
                <a:lnTo>
                  <a:pt x="21676" y="54"/>
                </a:lnTo>
                <a:cubicBezTo>
                  <a:pt x="21676" y="5828"/>
                  <a:pt x="21675" y="38002"/>
                  <a:pt x="21675" y="43776"/>
                </a:cubicBezTo>
                <a:cubicBezTo>
                  <a:pt x="10875" y="43776"/>
                  <a:pt x="10813" y="50312"/>
                  <a:pt x="13" y="46562"/>
                </a:cubicBezTo>
                <a:cubicBezTo>
                  <a:pt x="32" y="31095"/>
                  <a:pt x="-15" y="15467"/>
                  <a:pt x="4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533399"/>
            <a:ext cx="12214827" cy="6858000"/>
            <a:chOff x="-6214" y="-1"/>
            <a:chExt cx="12214827" cy="6858000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Content Placeholder 6" descr="A white and black text on a white background&#10;&#10;Description automatically generated">
            <a:extLst>
              <a:ext uri="{FF2B5EF4-FFF2-40B4-BE49-F238E27FC236}">
                <a16:creationId xmlns:a16="http://schemas.microsoft.com/office/drawing/2014/main" id="{83A39949-DDFA-ABEA-2C9E-2F2D472F15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-1" b="9002"/>
          <a:stretch/>
        </p:blipFill>
        <p:spPr>
          <a:xfrm>
            <a:off x="175917" y="168275"/>
            <a:ext cx="11863679" cy="65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26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029A0-6514-ADFA-0EDA-17D65A4A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Petunjuk</a:t>
            </a:r>
            <a:r>
              <a:rPr lang="en-US" dirty="0"/>
              <a:t> </a:t>
            </a:r>
            <a:r>
              <a:rPr lang="en-US" dirty="0" err="1"/>
              <a:t>Pengerjaan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2FE0F8-6792-4E4E-2F40-D8EEFF128C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0886330"/>
              </p:ext>
            </p:extLst>
          </p:nvPr>
        </p:nvGraphicFramePr>
        <p:xfrm>
          <a:off x="212651" y="1574800"/>
          <a:ext cx="11522149" cy="4803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403">
                  <a:extLst>
                    <a:ext uri="{9D8B030D-6E8A-4147-A177-3AD203B41FA5}">
                      <a16:colId xmlns:a16="http://schemas.microsoft.com/office/drawing/2014/main" val="2380263393"/>
                    </a:ext>
                  </a:extLst>
                </a:gridCol>
                <a:gridCol w="3450159">
                  <a:extLst>
                    <a:ext uri="{9D8B030D-6E8A-4147-A177-3AD203B41FA5}">
                      <a16:colId xmlns:a16="http://schemas.microsoft.com/office/drawing/2014/main" val="984078530"/>
                    </a:ext>
                  </a:extLst>
                </a:gridCol>
                <a:gridCol w="7226587">
                  <a:extLst>
                    <a:ext uri="{9D8B030D-6E8A-4147-A177-3AD203B41FA5}">
                      <a16:colId xmlns:a16="http://schemas.microsoft.com/office/drawing/2014/main" val="314192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Langkah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Instruksi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462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id-ID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lang="id-ID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Preparation</a:t>
                      </a:r>
                      <a:r>
                        <a:rPr lang="id-ID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Data </a:t>
                      </a:r>
                      <a:r>
                        <a:rPr lang="id-ID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Pre-processing</a:t>
                      </a:r>
                      <a:r>
                        <a:rPr lang="id-ID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err="1"/>
                        <a:t>Lakukan</a:t>
                      </a:r>
                      <a:r>
                        <a:rPr lang="en-US" dirty="0"/>
                        <a:t> proses </a:t>
                      </a:r>
                      <a:r>
                        <a:rPr lang="en-US" i="1" dirty="0"/>
                        <a:t>Exploratory Data Analysis </a:t>
                      </a:r>
                      <a:r>
                        <a:rPr lang="en-US" i="0" dirty="0"/>
                        <a:t>(EDA) </a:t>
                      </a:r>
                      <a:br>
                        <a:rPr lang="en-US" i="0" dirty="0"/>
                      </a:br>
                      <a:r>
                        <a:rPr lang="en-US" i="0" dirty="0"/>
                        <a:t>-    </a:t>
                      </a:r>
                      <a:r>
                        <a:rPr lang="en-US" i="0" dirty="0" err="1"/>
                        <a:t>coba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cek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distribusi</a:t>
                      </a:r>
                      <a:r>
                        <a:rPr lang="en-US" i="0" dirty="0"/>
                        <a:t> data, </a:t>
                      </a:r>
                      <a:r>
                        <a:rPr lang="en-US" i="0" dirty="0" err="1"/>
                        <a:t>apakah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ada</a:t>
                      </a:r>
                      <a:r>
                        <a:rPr lang="en-US" i="0" dirty="0"/>
                        <a:t> outlier ?</a:t>
                      </a:r>
                    </a:p>
                    <a:p>
                      <a:pPr marL="285750" indent="-285750">
                        <a:lnSpc>
                          <a:spcPct val="200000"/>
                        </a:lnSpc>
                        <a:buFontTx/>
                        <a:buChar char="-"/>
                      </a:pPr>
                      <a:r>
                        <a:rPr lang="en-US" i="0" dirty="0" err="1"/>
                        <a:t>karakteristik</a:t>
                      </a:r>
                      <a:r>
                        <a:rPr lang="en-US" i="0" dirty="0"/>
                        <a:t> data </a:t>
                      </a:r>
                      <a:r>
                        <a:rPr lang="en-US" i="0" dirty="0" err="1"/>
                        <a:t>menggunakan</a:t>
                      </a:r>
                      <a:r>
                        <a:rPr lang="en-US" i="0" dirty="0"/>
                        <a:t> box plot/histogram/ </a:t>
                      </a:r>
                      <a:r>
                        <a:rPr lang="en-US" i="0" dirty="0" err="1"/>
                        <a:t>dll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untuk</a:t>
                      </a:r>
                      <a:r>
                        <a:rPr lang="en-US" i="0" dirty="0"/>
                        <a:t> masing-masing </a:t>
                      </a:r>
                      <a:r>
                        <a:rPr lang="en-US" i="0" dirty="0" err="1"/>
                        <a:t>atribut</a:t>
                      </a:r>
                      <a:endParaRPr lang="en-US" i="0" dirty="0"/>
                    </a:p>
                    <a:p>
                      <a:pPr marL="285750" indent="-285750">
                        <a:lnSpc>
                          <a:spcPct val="200000"/>
                        </a:lnSpc>
                        <a:buFontTx/>
                        <a:buChar char="-"/>
                      </a:pPr>
                      <a:r>
                        <a:rPr lang="en-US" i="0" dirty="0"/>
                        <a:t>Jika </a:t>
                      </a:r>
                      <a:r>
                        <a:rPr lang="en-US" i="0" dirty="0" err="1"/>
                        <a:t>perlu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visualisasikan</a:t>
                      </a:r>
                      <a:r>
                        <a:rPr lang="en-US" i="0" dirty="0"/>
                        <a:t> </a:t>
                      </a:r>
                      <a:r>
                        <a:rPr lang="en-US" i="0" dirty="0" err="1"/>
                        <a:t>menggunakan</a:t>
                      </a:r>
                      <a:r>
                        <a:rPr lang="en-US" i="0" dirty="0"/>
                        <a:t> scatter plot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11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id-ID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lang="id-ID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d-ID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clustering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err="1"/>
                        <a:t>Implementasikan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Algoritma</a:t>
                      </a:r>
                      <a:r>
                        <a:rPr lang="en-US" dirty="0"/>
                        <a:t> K-Means Clustering </a:t>
                      </a:r>
                      <a:r>
                        <a:rPr lang="en-US" dirty="0" err="1"/>
                        <a:t>ke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dalam</a:t>
                      </a:r>
                      <a:r>
                        <a:rPr lang="en-US" dirty="0"/>
                        <a:t> 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935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id-ID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Testing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id-ID" sz="1800" i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clustering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II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err="1"/>
                        <a:t>Lakukan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untuk</a:t>
                      </a:r>
                      <a:r>
                        <a:rPr lang="en-US" dirty="0"/>
                        <a:t> 1000 kali </a:t>
                      </a:r>
                      <a:r>
                        <a:rPr lang="en-US" dirty="0" err="1"/>
                        <a:t>iterasi</a:t>
                      </a:r>
                      <a:r>
                        <a:rPr lang="en-US" dirty="0"/>
                        <a:t> dan K=3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765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</a:t>
                      </a:r>
                      <a:r>
                        <a:rPr lang="id-ID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Presentation</a:t>
                      </a:r>
                      <a:r>
                        <a:rPr lang="id-ID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dirty="0" err="1"/>
                        <a:t>Visualisasikan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hasil</a:t>
                      </a:r>
                      <a:r>
                        <a:rPr lang="en-US" dirty="0"/>
                        <a:t> clustering, </a:t>
                      </a:r>
                      <a:r>
                        <a:rPr lang="en-US" dirty="0" err="1"/>
                        <a:t>apa</a:t>
                      </a:r>
                      <a:r>
                        <a:rPr lang="en-US" dirty="0"/>
                        <a:t> yang </a:t>
                      </a:r>
                      <a:r>
                        <a:rPr lang="en-US" dirty="0" err="1"/>
                        <a:t>dapat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anda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simpulkan</a:t>
                      </a:r>
                      <a:r>
                        <a:rPr lang="en-US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832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0021000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AnalogousFromLightSeedLeftStep">
      <a:dk1>
        <a:srgbClr val="000000"/>
      </a:dk1>
      <a:lt1>
        <a:srgbClr val="FFFFFF"/>
      </a:lt1>
      <a:dk2>
        <a:srgbClr val="213A3B"/>
      </a:dk2>
      <a:lt2>
        <a:srgbClr val="E8E5E2"/>
      </a:lt2>
      <a:accent1>
        <a:srgbClr val="81A6C4"/>
      </a:accent1>
      <a:accent2>
        <a:srgbClr val="6EADAF"/>
      </a:accent2>
      <a:accent3>
        <a:srgbClr val="7BAC99"/>
      </a:accent3>
      <a:accent4>
        <a:srgbClr val="6EAF7B"/>
      </a:accent4>
      <a:accent5>
        <a:srgbClr val="86AC7B"/>
      </a:accent5>
      <a:accent6>
        <a:srgbClr val="93AA6B"/>
      </a:accent6>
      <a:hlink>
        <a:srgbClr val="9F795B"/>
      </a:hlink>
      <a:folHlink>
        <a:srgbClr val="7F7F7F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117</Words>
  <Application>Microsoft Macintosh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Avenir Next LT Pro</vt:lpstr>
      <vt:lpstr>Posterama</vt:lpstr>
      <vt:lpstr>SineVTI</vt:lpstr>
      <vt:lpstr>Soal LKS Artificial Intelligence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Implementasi K-Means Clustering pada Dataset Iris </vt:lpstr>
      <vt:lpstr>PowerPoint Presentation</vt:lpstr>
      <vt:lpstr>Petunjuk Pengerjaan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Soal LKS Artificial Intelligence </dc:title>
  <dc:creator>Singo Mulyo</dc:creator>
  <cp:lastModifiedBy>Singo Mulyo</cp:lastModifiedBy>
  <cp:revision>3</cp:revision>
  <dcterms:created xsi:type="dcterms:W3CDTF">2024-02-20T22:24:21Z</dcterms:created>
  <dcterms:modified xsi:type="dcterms:W3CDTF">2024-02-20T23:22:26Z</dcterms:modified>
</cp:coreProperties>
</file>